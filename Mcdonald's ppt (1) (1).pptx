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7" r:id="rId1"/>
  </p:sldMasterIdLst>
  <p:sldIdLst>
    <p:sldId id="257" r:id="rId2"/>
    <p:sldId id="265" r:id="rId3"/>
    <p:sldId id="264" r:id="rId4"/>
    <p:sldId id="259" r:id="rId5"/>
    <p:sldId id="266" r:id="rId6"/>
    <p:sldId id="267" r:id="rId7"/>
    <p:sldId id="268" r:id="rId8"/>
    <p:sldId id="262" r:id="rId9"/>
  </p:sldIdLst>
  <p:sldSz cx="9144000" cy="6858000" type="screen4x3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35" autoAdjust="0"/>
  </p:normalViewPr>
  <p:slideViewPr>
    <p:cSldViewPr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57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9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10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9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53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5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8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6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67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0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319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606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72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194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829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121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0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C51AE37-5BCE-48C6-8531-45B45D0FAE86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29371F-71CE-4AE0-AFCF-DE148FA036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3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9" r:id="rId2"/>
    <p:sldLayoutId id="2147484010" r:id="rId3"/>
    <p:sldLayoutId id="2147484011" r:id="rId4"/>
    <p:sldLayoutId id="2147484012" r:id="rId5"/>
    <p:sldLayoutId id="2147484013" r:id="rId6"/>
    <p:sldLayoutId id="2147484014" r:id="rId7"/>
    <p:sldLayoutId id="2147484015" r:id="rId8"/>
    <p:sldLayoutId id="2147484016" r:id="rId9"/>
    <p:sldLayoutId id="2147484017" r:id="rId10"/>
    <p:sldLayoutId id="2147484018" r:id="rId11"/>
    <p:sldLayoutId id="2147484019" r:id="rId12"/>
    <p:sldLayoutId id="2147484020" r:id="rId13"/>
    <p:sldLayoutId id="2147484021" r:id="rId14"/>
    <p:sldLayoutId id="2147484022" r:id="rId15"/>
    <p:sldLayoutId id="2147484023" r:id="rId16"/>
    <p:sldLayoutId id="21474840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137E39-9E28-4182-BD4E-F7AB855E3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1879CD-A163-4670-93AD-AA9A71793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637" y="-25400"/>
            <a:ext cx="2138363" cy="22240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04A9E1-D77A-4F8A-8E86-83E6A81586B2}"/>
              </a:ext>
            </a:extLst>
          </p:cNvPr>
          <p:cNvSpPr txBox="1"/>
          <p:nvPr/>
        </p:nvSpPr>
        <p:spPr>
          <a:xfrm>
            <a:off x="2133600" y="2667000"/>
            <a:ext cx="502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McDonald Sales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DB899-80B3-4AFD-89CB-6C5CF743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162B7-E49D-4AD5-8F6F-9403EACC7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490135"/>
            <a:ext cx="7848599" cy="34449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Analyze Mcdonalds order and menu data using Microsoft excel.</a:t>
            </a:r>
          </a:p>
          <a:p>
            <a:r>
              <a:rPr lang="en-US" dirty="0"/>
              <a:t>Identify the key factors driving product sales and revenue.</a:t>
            </a:r>
          </a:p>
          <a:p>
            <a:r>
              <a:rPr lang="en-US" dirty="0"/>
              <a:t>Evaluate product performance across different categories.</a:t>
            </a:r>
          </a:p>
          <a:p>
            <a:r>
              <a:rPr lang="en-US" dirty="0"/>
              <a:t>Understand customer purchasing patterns and product combination.</a:t>
            </a:r>
          </a:p>
          <a:p>
            <a:r>
              <a:rPr lang="en-US" dirty="0"/>
              <a:t>Identify opportunities to improve product promotion , bundling and revenue generation.</a:t>
            </a:r>
          </a:p>
          <a:p>
            <a:endParaRPr lang="en-US" dirty="0"/>
          </a:p>
        </p:txBody>
      </p:sp>
      <p:pic>
        <p:nvPicPr>
          <p:cNvPr id="4" name="Picture 3" descr="McDonalds_Logo_2018.png">
            <a:extLst>
              <a:ext uri="{FF2B5EF4-FFF2-40B4-BE49-F238E27FC236}">
                <a16:creationId xmlns:a16="http://schemas.microsoft.com/office/drawing/2014/main" id="{BEBB4769-E4DE-4376-B482-B09C6BA3FFF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496236"/>
            <a:ext cx="101532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7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ABE8-72C6-4546-B71B-CCC306D1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736-23EE-44A3-B927-F148E531C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6868" y="2514601"/>
            <a:ext cx="2328332" cy="57626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AE222-FCD7-425A-84C3-9CF29E246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76868" y="3090862"/>
            <a:ext cx="3337560" cy="3233738"/>
          </a:xfrm>
        </p:spPr>
        <p:txBody>
          <a:bodyPr/>
          <a:lstStyle/>
          <a:p>
            <a:r>
              <a:rPr lang="en-US" dirty="0"/>
              <a:t>Total revenue </a:t>
            </a:r>
          </a:p>
          <a:p>
            <a:r>
              <a:rPr lang="en-US" dirty="0"/>
              <a:t>Total orders</a:t>
            </a:r>
          </a:p>
          <a:p>
            <a:r>
              <a:rPr lang="en-US" dirty="0"/>
              <a:t>Total Items sold</a:t>
            </a:r>
          </a:p>
          <a:p>
            <a:r>
              <a:rPr lang="en-US" dirty="0"/>
              <a:t>Average order value</a:t>
            </a:r>
          </a:p>
          <a:p>
            <a:r>
              <a:rPr lang="en-US" dirty="0"/>
              <a:t>Average Items per order</a:t>
            </a:r>
          </a:p>
          <a:p>
            <a:r>
              <a:rPr lang="en-US" dirty="0"/>
              <a:t>Multi-Item orders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F9BA7D-7779-42C5-8B1B-C4880FEA7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1832" y="2514601"/>
            <a:ext cx="1758968" cy="57626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VALUE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39A04-24DE-49FB-BB6E-27CB6DA2A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1832" y="3090862"/>
            <a:ext cx="3337560" cy="3233738"/>
          </a:xfrm>
        </p:spPr>
        <p:txBody>
          <a:bodyPr/>
          <a:lstStyle/>
          <a:p>
            <a:r>
              <a:rPr lang="en-US" dirty="0"/>
              <a:t>$61,626.29</a:t>
            </a:r>
          </a:p>
          <a:p>
            <a:r>
              <a:rPr lang="en-US" dirty="0"/>
              <a:t>5370</a:t>
            </a:r>
          </a:p>
          <a:p>
            <a:r>
              <a:rPr lang="en-US" dirty="0"/>
              <a:t>12234</a:t>
            </a:r>
          </a:p>
          <a:p>
            <a:r>
              <a:rPr lang="en-US" dirty="0"/>
              <a:t>$11.36</a:t>
            </a:r>
          </a:p>
          <a:p>
            <a:r>
              <a:rPr lang="en-US" dirty="0"/>
              <a:t>2.28</a:t>
            </a:r>
          </a:p>
          <a:p>
            <a:r>
              <a:rPr lang="en-US" dirty="0"/>
              <a:t>61.77%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McDonalds_Logo_2018.png">
            <a:extLst>
              <a:ext uri="{FF2B5EF4-FFF2-40B4-BE49-F238E27FC236}">
                <a16:creationId xmlns:a16="http://schemas.microsoft.com/office/drawing/2014/main" id="{9C8311AD-3785-46AB-AA69-4270DD89541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496236"/>
            <a:ext cx="101532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17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5-08-07 18143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B1D5E-5463-48C7-B0B0-41FEB9F7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9A77D-7F36-451D-968E-CA8F8CBB2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490135"/>
            <a:ext cx="8077200" cy="383446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Burger is the highest revenue-generating product category.</a:t>
            </a:r>
          </a:p>
          <a:p>
            <a:r>
              <a:rPr lang="en-US" dirty="0"/>
              <a:t>Meatball Marinara generates higher revenue despite lower sales volume than several top-selling products.</a:t>
            </a:r>
          </a:p>
          <a:p>
            <a:r>
              <a:rPr lang="en-US" dirty="0"/>
              <a:t>More than 60% of orders contain multiple items , indicating strong potential for cross-selling.</a:t>
            </a:r>
          </a:p>
          <a:p>
            <a:r>
              <a:rPr lang="en-US" dirty="0"/>
              <a:t>Certain products are frequently purchased together , particularly burgers with side items.</a:t>
            </a:r>
          </a:p>
          <a:p>
            <a:r>
              <a:rPr lang="en-US" dirty="0"/>
              <a:t>Sales performance varies significantly across products , showing that volume alone does not determine revenue contribution.</a:t>
            </a:r>
          </a:p>
          <a:p>
            <a:endParaRPr lang="en-US" dirty="0"/>
          </a:p>
        </p:txBody>
      </p:sp>
      <p:pic>
        <p:nvPicPr>
          <p:cNvPr id="4" name="Picture 3" descr="McDonalds_Logo_2018.png">
            <a:extLst>
              <a:ext uri="{FF2B5EF4-FFF2-40B4-BE49-F238E27FC236}">
                <a16:creationId xmlns:a16="http://schemas.microsoft.com/office/drawing/2014/main" id="{69FA8923-F8E4-4DD6-AD33-10B7AA11E9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496236"/>
            <a:ext cx="101532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2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1771-D893-4FCF-A00E-58D53195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15337"/>
            <a:ext cx="7289800" cy="1303867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FD26-A0E2-4B7F-90A1-7C44E0E2A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286000"/>
            <a:ext cx="8305800" cy="4038601"/>
          </a:xfrm>
        </p:spPr>
        <p:txBody>
          <a:bodyPr/>
          <a:lstStyle/>
          <a:p>
            <a:r>
              <a:rPr lang="en-US" dirty="0"/>
              <a:t>High - volume products are effective for attracting customer , while higher - value products can contribute more revenue per sale.</a:t>
            </a:r>
          </a:p>
          <a:p>
            <a:r>
              <a:rPr lang="en-US" dirty="0"/>
              <a:t>Frequently paired products indicate natural customer preferences that can be used for combo creation.</a:t>
            </a:r>
          </a:p>
          <a:p>
            <a:r>
              <a:rPr lang="en-US" dirty="0"/>
              <a:t>Customer purchasing multiple items provide an opportunity to increase Average order value.</a:t>
            </a:r>
          </a:p>
          <a:p>
            <a:r>
              <a:rPr lang="en-US" dirty="0"/>
              <a:t>Product - level analysis reveals opportunities that are not visible                 from overall category or daily sales alone.</a:t>
            </a:r>
          </a:p>
        </p:txBody>
      </p:sp>
      <p:pic>
        <p:nvPicPr>
          <p:cNvPr id="4" name="Picture 3" descr="McDonalds_Logo_2018.png">
            <a:extLst>
              <a:ext uri="{FF2B5EF4-FFF2-40B4-BE49-F238E27FC236}">
                <a16:creationId xmlns:a16="http://schemas.microsoft.com/office/drawing/2014/main" id="{D303343C-4324-4F8F-8ADC-67FE4F6504F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496236"/>
            <a:ext cx="101532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2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E5A8-0626-414A-8D8E-E10CBA44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633" y="762000"/>
            <a:ext cx="6798734" cy="1303867"/>
          </a:xfrm>
        </p:spPr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B7502-BFF5-4719-8A30-B1E9E279D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362201"/>
            <a:ext cx="8305800" cy="4038600"/>
          </a:xfrm>
        </p:spPr>
        <p:txBody>
          <a:bodyPr/>
          <a:lstStyle/>
          <a:p>
            <a:r>
              <a:rPr lang="en-US" dirty="0"/>
              <a:t>Create data driven combo offer using products that are frequently purchased together.</a:t>
            </a:r>
          </a:p>
          <a:p>
            <a:r>
              <a:rPr lang="en-US" dirty="0"/>
              <a:t>Promote high – value products through premium combos and targeted upselling.</a:t>
            </a:r>
          </a:p>
          <a:p>
            <a:r>
              <a:rPr lang="en-US" dirty="0"/>
              <a:t>Use high – volume products as entry products based on both sales volume and revenue before making menu decisions.</a:t>
            </a:r>
          </a:p>
          <a:p>
            <a:r>
              <a:rPr lang="en-US" dirty="0"/>
              <a:t>Review low – performing products based on both sales volume and revenue before making menu decisions.</a:t>
            </a:r>
          </a:p>
          <a:p>
            <a:endParaRPr lang="en-US" dirty="0"/>
          </a:p>
        </p:txBody>
      </p:sp>
      <p:pic>
        <p:nvPicPr>
          <p:cNvPr id="4" name="Picture 3" descr="McDonalds_Logo_2018.png">
            <a:extLst>
              <a:ext uri="{FF2B5EF4-FFF2-40B4-BE49-F238E27FC236}">
                <a16:creationId xmlns:a16="http://schemas.microsoft.com/office/drawing/2014/main" id="{DED27092-618D-44DB-B720-B427FD0E206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496236"/>
            <a:ext cx="101532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2643FDF-37E7-4A35-ACCE-7007F1D0487F}"/>
              </a:ext>
            </a:extLst>
          </p:cNvPr>
          <p:cNvSpPr txBox="1"/>
          <p:nvPr/>
        </p:nvSpPr>
        <p:spPr>
          <a:xfrm>
            <a:off x="1752600" y="2514600"/>
            <a:ext cx="5638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+mj-lt"/>
              </a:rPr>
              <a:t>THANKU YOU</a:t>
            </a:r>
          </a:p>
          <a:p>
            <a:pPr algn="ctr"/>
            <a:r>
              <a:rPr lang="en-US" sz="3200" dirty="0">
                <a:solidFill>
                  <a:srgbClr val="000000"/>
                </a:solidFill>
                <a:latin typeface="+mj-lt"/>
              </a:rPr>
              <a:t>PRESENTED BY MADHAV SONI</a:t>
            </a:r>
          </a:p>
        </p:txBody>
      </p:sp>
      <p:pic>
        <p:nvPicPr>
          <p:cNvPr id="20" name="Picture 19" descr="McDonalds_Logo_2018.png">
            <a:extLst>
              <a:ext uri="{FF2B5EF4-FFF2-40B4-BE49-F238E27FC236}">
                <a16:creationId xmlns:a16="http://schemas.microsoft.com/office/drawing/2014/main" id="{0442BE5F-83E6-4835-B3F3-522193C96AD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496236"/>
            <a:ext cx="1015322" cy="8382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226</TotalTime>
  <Words>289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PowerPoint Presentation</vt:lpstr>
      <vt:lpstr>PROJECT OBJECTIVES</vt:lpstr>
      <vt:lpstr>KPI OVERVIEW</vt:lpstr>
      <vt:lpstr>PowerPoint Presentation</vt:lpstr>
      <vt:lpstr>KEY FINDINGS</vt:lpstr>
      <vt:lpstr>INSIGHTS</vt:lpstr>
      <vt:lpstr>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madhav soni</cp:lastModifiedBy>
  <cp:revision>25</cp:revision>
  <dcterms:created xsi:type="dcterms:W3CDTF">2025-08-12T10:46:31Z</dcterms:created>
  <dcterms:modified xsi:type="dcterms:W3CDTF">2026-09-01T09:25:31Z</dcterms:modified>
</cp:coreProperties>
</file>